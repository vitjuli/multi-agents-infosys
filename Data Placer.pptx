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Inter Light"/>
      <p:regular r:id="rId12"/>
      <p:bold r:id="rId13"/>
      <p:italic r:id="rId14"/>
      <p:boldItalic r:id="rId15"/>
    </p:embeddedFont>
    <p:embeddedFont>
      <p:font typeface="Inter SemiBold"/>
      <p:regular r:id="rId16"/>
      <p:bold r:id="rId17"/>
      <p:italic r:id="rId18"/>
      <p:boldItalic r:id="rId19"/>
    </p:embeddedFont>
    <p:embeddedFont>
      <p:font typeface="Inter"/>
      <p:bold r:id="rId20"/>
      <p:boldItalic r:id="rId21"/>
    </p:embeddedFont>
    <p:embeddedFont>
      <p:font typeface="Inter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Medium-regular.fntdata"/><Relationship Id="rId21" Type="http://schemas.openxmlformats.org/officeDocument/2006/relationships/font" Target="fonts/Inter-boldItalic.fntdata"/><Relationship Id="rId24" Type="http://schemas.openxmlformats.org/officeDocument/2006/relationships/font" Target="fonts/InterMedium-italic.fntdata"/><Relationship Id="rId23" Type="http://schemas.openxmlformats.org/officeDocument/2006/relationships/font" Target="fonts/Inter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Inter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Light-bold.fntdata"/><Relationship Id="rId12" Type="http://schemas.openxmlformats.org/officeDocument/2006/relationships/font" Target="fonts/InterLight-regular.fntdata"/><Relationship Id="rId15" Type="http://schemas.openxmlformats.org/officeDocument/2006/relationships/font" Target="fonts/InterLight-boldItalic.fntdata"/><Relationship Id="rId14" Type="http://schemas.openxmlformats.org/officeDocument/2006/relationships/font" Target="fonts/InterLight-italic.fntdata"/><Relationship Id="rId17" Type="http://schemas.openxmlformats.org/officeDocument/2006/relationships/font" Target="fonts/InterSemiBold-bold.fntdata"/><Relationship Id="rId16" Type="http://schemas.openxmlformats.org/officeDocument/2006/relationships/font" Target="fonts/InterSemiBold-regular.fntdata"/><Relationship Id="rId19" Type="http://schemas.openxmlformats.org/officeDocument/2006/relationships/font" Target="fonts/InterSemiBold-boldItalic.fntdata"/><Relationship Id="rId18" Type="http://schemas.openxmlformats.org/officeDocument/2006/relationships/font" Target="fonts/Inter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0b37529e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0b37529e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0b37529ef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0b37529ef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0b37529ef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0b37529ef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0b37529ef_0_8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0b37529ef_0_8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0b37529ef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0b37529ef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0bae6064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0bae6064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0bae6064c_10_0)">
  <p:cSld name="Generated (g3e0bae6064c_10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0" y="2857500"/>
            <a:ext cx="9144000" cy="2286000"/>
            <a:chOff x="0" y="2857500"/>
            <a:chExt cx="9144000" cy="2286000"/>
          </a:xfrm>
        </p:grpSpPr>
        <p:pic>
          <p:nvPicPr>
            <p:cNvPr id="56" name="Google Shape;56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3048000"/>
              <a:ext cx="9144000" cy="2095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857500"/>
              <a:ext cx="9144000" cy="228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" name="Google Shape;58;p14"/>
          <p:cNvSpPr/>
          <p:nvPr/>
        </p:nvSpPr>
        <p:spPr>
          <a:xfrm>
            <a:off x="6762750" y="-666750"/>
            <a:ext cx="2857500" cy="28575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D1D1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7239000" y="-190500"/>
            <a:ext cx="1905000" cy="1905000"/>
          </a:xfrm>
          <a:prstGeom prst="ellipse">
            <a:avLst/>
          </a:prstGeom>
          <a:solidFill>
            <a:srgbClr val="000000">
              <a:alpha val="0"/>
            </a:srgbClr>
          </a:solidFill>
          <a:ln cap="flat" cmpd="sng" w="4775">
            <a:solidFill>
              <a:srgbClr val="D1D1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minimalist, high-tech architectural blueprint of a data centre with clean lines and geometric shapes on a light grey background." id="60" name="Google Shape;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762000" y="17145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DATA PLACER</a:t>
            </a:r>
            <a:endParaRPr b="1" sz="4400">
              <a:solidFill>
                <a:srgbClr val="1A1A1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762000" y="257175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00">
                <a:solidFill>
                  <a:srgbClr val="666666"/>
                </a:solidFill>
                <a:latin typeface="Inter Light"/>
                <a:ea typeface="Inter Light"/>
                <a:cs typeface="Inter Light"/>
                <a:sym typeface="Inter Light"/>
              </a:rPr>
              <a:t>DATA CENTRE OPTIMIZATION</a:t>
            </a:r>
            <a:endParaRPr b="0" sz="1600">
              <a:solidFill>
                <a:srgbClr val="666666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191000" y="3238500"/>
            <a:ext cx="762000" cy="19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77778" l="0" r="0" t="0"/>
          <a:stretch/>
        </p:blipFill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15"/>
          <p:cNvGrpSpPr/>
          <p:nvPr/>
        </p:nvGrpSpPr>
        <p:grpSpPr>
          <a:xfrm>
            <a:off x="1619250" y="1704975"/>
            <a:ext cx="5715000" cy="1733475"/>
            <a:chOff x="1619250" y="1704975"/>
            <a:chExt cx="5715000" cy="1733475"/>
          </a:xfrm>
        </p:grpSpPr>
        <p:pic>
          <p:nvPicPr>
            <p:cNvPr id="70" name="Google Shape;70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619250" y="2562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48000" y="2562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" name="Google Shape;72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76750" y="2562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467225" y="1704975"/>
              <a:ext cx="200100" cy="8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467225" y="2571750"/>
              <a:ext cx="200100" cy="8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19750" y="1704975"/>
              <a:ext cx="285900" cy="876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" name="Google Shape;76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619750" y="2562225"/>
              <a:ext cx="285900" cy="1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15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619750" y="2571750"/>
              <a:ext cx="200100" cy="866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143750" y="2562225"/>
              <a:ext cx="190500" cy="1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9" name="Google Shape;79;p15"/>
          <p:cNvSpPr/>
          <p:nvPr/>
        </p:nvSpPr>
        <p:spPr>
          <a:xfrm>
            <a:off x="381000" y="2190750"/>
            <a:ext cx="1238400" cy="762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297447" y="2190750"/>
            <a:ext cx="1238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User Input</a:t>
            </a:r>
            <a:endParaRPr b="0" sz="12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1809750" y="2190750"/>
            <a:ext cx="1238400" cy="762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1726197" y="2190750"/>
            <a:ext cx="1238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Planner / Feedback</a:t>
            </a:r>
            <a:endParaRPr b="0" sz="12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3238500" y="2190750"/>
            <a:ext cx="1238400" cy="762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3154947" y="2190750"/>
            <a:ext cx="1238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Candidate Generation</a:t>
            </a:r>
            <a:endParaRPr b="0" sz="12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4667250" y="1428750"/>
            <a:ext cx="952500" cy="5715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667250" y="1428750"/>
            <a:ext cx="95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rPr>
              <a:t>Climate</a:t>
            </a:r>
            <a:endParaRPr b="0" sz="1100">
              <a:solidFill>
                <a:srgbClr val="1D4ED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667250" y="2286000"/>
            <a:ext cx="952500" cy="5715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667250" y="2286000"/>
            <a:ext cx="95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rPr>
              <a:t>Energy</a:t>
            </a:r>
            <a:endParaRPr b="0" sz="1100">
              <a:solidFill>
                <a:srgbClr val="1D4ED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4667250" y="3295650"/>
            <a:ext cx="952500" cy="571500"/>
          </a:xfrm>
          <a:prstGeom prst="roundRect">
            <a:avLst>
              <a:gd fmla="val 10000" name="adj"/>
            </a:avLst>
          </a:prstGeom>
          <a:solidFill>
            <a:srgbClr val="EFF6FF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 txBox="1"/>
          <p:nvPr/>
        </p:nvSpPr>
        <p:spPr>
          <a:xfrm>
            <a:off x="4667250" y="3295650"/>
            <a:ext cx="952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7625" lIns="47625" spcFirstLastPara="1" rIns="47625" wrap="square" tIns="47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1D4ED8"/>
                </a:solidFill>
                <a:latin typeface="Inter Medium"/>
                <a:ea typeface="Inter Medium"/>
                <a:cs typeface="Inter Medium"/>
                <a:sym typeface="Inter Medium"/>
              </a:rPr>
              <a:t>Land</a:t>
            </a:r>
            <a:endParaRPr b="0" sz="1100">
              <a:solidFill>
                <a:srgbClr val="1D4ED8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5905500" y="2190750"/>
            <a:ext cx="1238400" cy="7620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5905500" y="2190750"/>
            <a:ext cx="1238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Cost Analysis</a:t>
            </a:r>
            <a:endParaRPr b="0" sz="1200">
              <a:solidFill>
                <a:srgbClr val="1E293B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7429500" y="2190750"/>
            <a:ext cx="1238400" cy="762000"/>
          </a:xfrm>
          <a:prstGeom prst="roundRect">
            <a:avLst>
              <a:gd fmla="val 10000" name="adj"/>
            </a:avLst>
          </a:prstGeom>
          <a:solidFill>
            <a:srgbClr val="3B82F6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 txBox="1"/>
          <p:nvPr/>
        </p:nvSpPr>
        <p:spPr>
          <a:xfrm>
            <a:off x="7429500" y="2190750"/>
            <a:ext cx="12384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Feasibility &amp; Result</a:t>
            </a:r>
            <a:endParaRPr b="1"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5"/>
          <p:cNvSpPr txBox="1"/>
          <p:nvPr/>
        </p:nvSpPr>
        <p:spPr>
          <a:xfrm>
            <a:off x="4876408" y="2824079"/>
            <a:ext cx="49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75" y="0"/>
            <a:ext cx="904683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176024" y="2330038"/>
            <a:ext cx="973500" cy="483300"/>
          </a:xfrm>
          <a:prstGeom prst="ellipse">
            <a:avLst/>
          </a:prstGeom>
          <a:solidFill>
            <a:srgbClr val="D9D2E9"/>
          </a:solidFill>
          <a:ln cap="flat" cmpd="sng" w="260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User Input</a:t>
            </a:r>
            <a:endParaRPr sz="1274"/>
          </a:p>
        </p:txBody>
      </p:sp>
      <p:sp>
        <p:nvSpPr>
          <p:cNvPr id="106" name="Google Shape;106;p17"/>
          <p:cNvSpPr/>
          <p:nvPr/>
        </p:nvSpPr>
        <p:spPr>
          <a:xfrm>
            <a:off x="1497398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Planner</a:t>
            </a:r>
            <a:endParaRPr sz="1274"/>
          </a:p>
        </p:txBody>
      </p:sp>
      <p:cxnSp>
        <p:nvCxnSpPr>
          <p:cNvPr id="107" name="Google Shape;107;p17"/>
          <p:cNvCxnSpPr>
            <a:stCxn id="105" idx="6"/>
            <a:endCxn id="106" idx="1"/>
          </p:cNvCxnSpPr>
          <p:nvPr/>
        </p:nvCxnSpPr>
        <p:spPr>
          <a:xfrm>
            <a:off x="1149524" y="2571688"/>
            <a:ext cx="3480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7"/>
          <p:cNvCxnSpPr>
            <a:stCxn id="106" idx="2"/>
            <a:endCxn id="105" idx="4"/>
          </p:cNvCxnSpPr>
          <p:nvPr/>
        </p:nvCxnSpPr>
        <p:spPr>
          <a:xfrm flipH="1" rot="5400000">
            <a:off x="1346648" y="2129398"/>
            <a:ext cx="29700" cy="1397400"/>
          </a:xfrm>
          <a:prstGeom prst="curvedConnector3">
            <a:avLst>
              <a:gd fmla="val -734954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7"/>
          <p:cNvSpPr/>
          <p:nvPr/>
        </p:nvSpPr>
        <p:spPr>
          <a:xfrm>
            <a:off x="2970852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Candidate Generation</a:t>
            </a:r>
            <a:endParaRPr sz="1274"/>
          </a:p>
        </p:txBody>
      </p:sp>
      <p:cxnSp>
        <p:nvCxnSpPr>
          <p:cNvPr id="110" name="Google Shape;110;p17"/>
          <p:cNvCxnSpPr>
            <a:stCxn id="106" idx="3"/>
            <a:endCxn id="109" idx="1"/>
          </p:cNvCxnSpPr>
          <p:nvPr/>
        </p:nvCxnSpPr>
        <p:spPr>
          <a:xfrm>
            <a:off x="2622998" y="2571748"/>
            <a:ext cx="3480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" name="Google Shape;111;p17"/>
          <p:cNvSpPr/>
          <p:nvPr/>
        </p:nvSpPr>
        <p:spPr>
          <a:xfrm>
            <a:off x="4626838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rgbClr val="C6D1FF"/>
          </a:solidFill>
          <a:ln cap="flat" cmpd="sng" w="26000">
            <a:solidFill>
              <a:srgbClr val="3164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…</a:t>
            </a:r>
            <a:endParaRPr sz="1274"/>
          </a:p>
        </p:txBody>
      </p:sp>
      <p:sp>
        <p:nvSpPr>
          <p:cNvPr id="112" name="Google Shape;112;p17"/>
          <p:cNvSpPr/>
          <p:nvPr/>
        </p:nvSpPr>
        <p:spPr>
          <a:xfrm>
            <a:off x="4626838" y="1602750"/>
            <a:ext cx="1125600" cy="542400"/>
          </a:xfrm>
          <a:prstGeom prst="roundRect">
            <a:avLst>
              <a:gd fmla="val 16667" name="adj"/>
            </a:avLst>
          </a:prstGeom>
          <a:solidFill>
            <a:srgbClr val="C6D1FF"/>
          </a:solidFill>
          <a:ln cap="flat" cmpd="sng" w="26000">
            <a:solidFill>
              <a:srgbClr val="3164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Energy Sources</a:t>
            </a:r>
            <a:endParaRPr sz="1274"/>
          </a:p>
        </p:txBody>
      </p:sp>
      <p:sp>
        <p:nvSpPr>
          <p:cNvPr id="113" name="Google Shape;113;p17"/>
          <p:cNvSpPr/>
          <p:nvPr/>
        </p:nvSpPr>
        <p:spPr>
          <a:xfrm>
            <a:off x="4626838" y="2998350"/>
            <a:ext cx="1125600" cy="542400"/>
          </a:xfrm>
          <a:prstGeom prst="roundRect">
            <a:avLst>
              <a:gd fmla="val 16667" name="adj"/>
            </a:avLst>
          </a:prstGeom>
          <a:solidFill>
            <a:srgbClr val="C6D1FF"/>
          </a:solidFill>
          <a:ln cap="flat" cmpd="sng" w="26000">
            <a:solidFill>
              <a:srgbClr val="3164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Brownfield Sites</a:t>
            </a:r>
            <a:endParaRPr sz="1274"/>
          </a:p>
        </p:txBody>
      </p:sp>
      <p:cxnSp>
        <p:nvCxnSpPr>
          <p:cNvPr id="114" name="Google Shape;114;p17"/>
          <p:cNvCxnSpPr>
            <a:stCxn id="109" idx="3"/>
            <a:endCxn id="111" idx="1"/>
          </p:cNvCxnSpPr>
          <p:nvPr/>
        </p:nvCxnSpPr>
        <p:spPr>
          <a:xfrm>
            <a:off x="4096452" y="2571748"/>
            <a:ext cx="5304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5" name="Google Shape;115;p17"/>
          <p:cNvCxnSpPr>
            <a:stCxn id="109" idx="3"/>
            <a:endCxn id="112" idx="1"/>
          </p:cNvCxnSpPr>
          <p:nvPr/>
        </p:nvCxnSpPr>
        <p:spPr>
          <a:xfrm flipH="1" rot="10800000">
            <a:off x="4096452" y="1873948"/>
            <a:ext cx="530400" cy="697800"/>
          </a:xfrm>
          <a:prstGeom prst="bentConnector3">
            <a:avLst>
              <a:gd fmla="val 49996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" name="Google Shape;116;p17"/>
          <p:cNvCxnSpPr>
            <a:stCxn id="109" idx="3"/>
            <a:endCxn id="113" idx="1"/>
          </p:cNvCxnSpPr>
          <p:nvPr/>
        </p:nvCxnSpPr>
        <p:spPr>
          <a:xfrm>
            <a:off x="4096452" y="2571748"/>
            <a:ext cx="530400" cy="697800"/>
          </a:xfrm>
          <a:prstGeom prst="bentConnector3">
            <a:avLst>
              <a:gd fmla="val 49996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" name="Google Shape;117;p17"/>
          <p:cNvSpPr/>
          <p:nvPr/>
        </p:nvSpPr>
        <p:spPr>
          <a:xfrm>
            <a:off x="6206624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Cost Aggregator</a:t>
            </a:r>
            <a:endParaRPr sz="1274"/>
          </a:p>
        </p:txBody>
      </p:sp>
      <p:sp>
        <p:nvSpPr>
          <p:cNvPr id="118" name="Google Shape;118;p17"/>
          <p:cNvSpPr/>
          <p:nvPr/>
        </p:nvSpPr>
        <p:spPr>
          <a:xfrm>
            <a:off x="7786399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Feasibility</a:t>
            </a:r>
            <a:r>
              <a:rPr lang="en" sz="1274"/>
              <a:t> &amp; Output</a:t>
            </a:r>
            <a:endParaRPr sz="1274"/>
          </a:p>
        </p:txBody>
      </p:sp>
      <p:cxnSp>
        <p:nvCxnSpPr>
          <p:cNvPr id="119" name="Google Shape;119;p17"/>
          <p:cNvCxnSpPr>
            <a:stCxn id="112" idx="3"/>
            <a:endCxn id="117" idx="1"/>
          </p:cNvCxnSpPr>
          <p:nvPr/>
        </p:nvCxnSpPr>
        <p:spPr>
          <a:xfrm>
            <a:off x="5752438" y="1873950"/>
            <a:ext cx="454200" cy="697800"/>
          </a:xfrm>
          <a:prstGeom prst="bentConnector3">
            <a:avLst>
              <a:gd fmla="val 4999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7"/>
          <p:cNvCxnSpPr>
            <a:stCxn id="111" idx="3"/>
            <a:endCxn id="117" idx="1"/>
          </p:cNvCxnSpPr>
          <p:nvPr/>
        </p:nvCxnSpPr>
        <p:spPr>
          <a:xfrm>
            <a:off x="5752438" y="2571748"/>
            <a:ext cx="454200" cy="600"/>
          </a:xfrm>
          <a:prstGeom prst="bentConnector3">
            <a:avLst>
              <a:gd fmla="val 4999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7"/>
          <p:cNvCxnSpPr>
            <a:stCxn id="113" idx="3"/>
            <a:endCxn id="117" idx="1"/>
          </p:cNvCxnSpPr>
          <p:nvPr/>
        </p:nvCxnSpPr>
        <p:spPr>
          <a:xfrm flipH="1" rot="10800000">
            <a:off x="5752438" y="2571750"/>
            <a:ext cx="454200" cy="697800"/>
          </a:xfrm>
          <a:prstGeom prst="bentConnector3">
            <a:avLst>
              <a:gd fmla="val 4999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7"/>
          <p:cNvCxnSpPr>
            <a:stCxn id="117" idx="3"/>
            <a:endCxn id="118" idx="1"/>
          </p:cNvCxnSpPr>
          <p:nvPr/>
        </p:nvCxnSpPr>
        <p:spPr>
          <a:xfrm>
            <a:off x="7332224" y="2571748"/>
            <a:ext cx="4542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/>
          <p:nvPr/>
        </p:nvCxnSpPr>
        <p:spPr>
          <a:xfrm rot="10800000">
            <a:off x="1369475" y="3077700"/>
            <a:ext cx="0" cy="90480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7"/>
          <p:cNvCxnSpPr/>
          <p:nvPr/>
        </p:nvCxnSpPr>
        <p:spPr>
          <a:xfrm>
            <a:off x="1369475" y="3982500"/>
            <a:ext cx="54198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17"/>
          <p:cNvCxnSpPr>
            <a:stCxn id="117" idx="2"/>
          </p:cNvCxnSpPr>
          <p:nvPr/>
        </p:nvCxnSpPr>
        <p:spPr>
          <a:xfrm>
            <a:off x="6769424" y="2842948"/>
            <a:ext cx="19800" cy="113970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176024" y="2330038"/>
            <a:ext cx="973500" cy="483300"/>
          </a:xfrm>
          <a:prstGeom prst="ellipse">
            <a:avLst/>
          </a:prstGeom>
          <a:solidFill>
            <a:srgbClr val="D9D2E9"/>
          </a:solidFill>
          <a:ln cap="flat" cmpd="sng" w="26000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User Input</a:t>
            </a:r>
            <a:endParaRPr sz="1274"/>
          </a:p>
        </p:txBody>
      </p:sp>
      <p:sp>
        <p:nvSpPr>
          <p:cNvPr id="131" name="Google Shape;131;p18"/>
          <p:cNvSpPr/>
          <p:nvPr/>
        </p:nvSpPr>
        <p:spPr>
          <a:xfrm>
            <a:off x="1497398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Planner</a:t>
            </a:r>
            <a:endParaRPr sz="1274"/>
          </a:p>
        </p:txBody>
      </p:sp>
      <p:cxnSp>
        <p:nvCxnSpPr>
          <p:cNvPr id="132" name="Google Shape;132;p18"/>
          <p:cNvCxnSpPr>
            <a:stCxn id="130" idx="6"/>
            <a:endCxn id="131" idx="1"/>
          </p:cNvCxnSpPr>
          <p:nvPr/>
        </p:nvCxnSpPr>
        <p:spPr>
          <a:xfrm>
            <a:off x="1149524" y="2571688"/>
            <a:ext cx="3480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>
            <a:stCxn id="131" idx="2"/>
            <a:endCxn id="130" idx="4"/>
          </p:cNvCxnSpPr>
          <p:nvPr/>
        </p:nvCxnSpPr>
        <p:spPr>
          <a:xfrm flipH="1" rot="5400000">
            <a:off x="1346648" y="2129398"/>
            <a:ext cx="29700" cy="1397400"/>
          </a:xfrm>
          <a:prstGeom prst="curvedConnector3">
            <a:avLst>
              <a:gd fmla="val -80176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8"/>
          <p:cNvSpPr/>
          <p:nvPr/>
        </p:nvSpPr>
        <p:spPr>
          <a:xfrm>
            <a:off x="2970852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Candidate Generation</a:t>
            </a:r>
            <a:endParaRPr sz="1274"/>
          </a:p>
        </p:txBody>
      </p:sp>
      <p:cxnSp>
        <p:nvCxnSpPr>
          <p:cNvPr id="135" name="Google Shape;135;p18"/>
          <p:cNvCxnSpPr>
            <a:stCxn id="131" idx="3"/>
            <a:endCxn id="134" idx="1"/>
          </p:cNvCxnSpPr>
          <p:nvPr/>
        </p:nvCxnSpPr>
        <p:spPr>
          <a:xfrm>
            <a:off x="2622998" y="2571748"/>
            <a:ext cx="3480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" name="Google Shape;136;p18"/>
          <p:cNvSpPr/>
          <p:nvPr/>
        </p:nvSpPr>
        <p:spPr>
          <a:xfrm>
            <a:off x="4626838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rgbClr val="C6D1FF"/>
          </a:solidFill>
          <a:ln cap="flat" cmpd="sng" w="26000">
            <a:solidFill>
              <a:srgbClr val="3164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…</a:t>
            </a:r>
            <a:endParaRPr sz="1274"/>
          </a:p>
        </p:txBody>
      </p:sp>
      <p:sp>
        <p:nvSpPr>
          <p:cNvPr id="137" name="Google Shape;137;p18"/>
          <p:cNvSpPr/>
          <p:nvPr/>
        </p:nvSpPr>
        <p:spPr>
          <a:xfrm>
            <a:off x="4626838" y="1602750"/>
            <a:ext cx="1125600" cy="542400"/>
          </a:xfrm>
          <a:prstGeom prst="roundRect">
            <a:avLst>
              <a:gd fmla="val 16667" name="adj"/>
            </a:avLst>
          </a:prstGeom>
          <a:solidFill>
            <a:srgbClr val="C6D1FF"/>
          </a:solidFill>
          <a:ln cap="flat" cmpd="sng" w="26000">
            <a:solidFill>
              <a:srgbClr val="3164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Energy Sources</a:t>
            </a:r>
            <a:endParaRPr sz="1274"/>
          </a:p>
        </p:txBody>
      </p:sp>
      <p:sp>
        <p:nvSpPr>
          <p:cNvPr id="138" name="Google Shape;138;p18"/>
          <p:cNvSpPr/>
          <p:nvPr/>
        </p:nvSpPr>
        <p:spPr>
          <a:xfrm>
            <a:off x="4626838" y="2998350"/>
            <a:ext cx="1125600" cy="542400"/>
          </a:xfrm>
          <a:prstGeom prst="roundRect">
            <a:avLst>
              <a:gd fmla="val 16667" name="adj"/>
            </a:avLst>
          </a:prstGeom>
          <a:solidFill>
            <a:srgbClr val="C6D1FF"/>
          </a:solidFill>
          <a:ln cap="flat" cmpd="sng" w="26000">
            <a:solidFill>
              <a:srgbClr val="3164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Brownfield Sites</a:t>
            </a:r>
            <a:endParaRPr sz="1274"/>
          </a:p>
        </p:txBody>
      </p:sp>
      <p:cxnSp>
        <p:nvCxnSpPr>
          <p:cNvPr id="139" name="Google Shape;139;p18"/>
          <p:cNvCxnSpPr>
            <a:stCxn id="134" idx="3"/>
            <a:endCxn id="136" idx="1"/>
          </p:cNvCxnSpPr>
          <p:nvPr/>
        </p:nvCxnSpPr>
        <p:spPr>
          <a:xfrm>
            <a:off x="4096452" y="2571748"/>
            <a:ext cx="5304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8"/>
          <p:cNvCxnSpPr>
            <a:stCxn id="134" idx="3"/>
            <a:endCxn id="137" idx="1"/>
          </p:cNvCxnSpPr>
          <p:nvPr/>
        </p:nvCxnSpPr>
        <p:spPr>
          <a:xfrm flipH="1" rot="10800000">
            <a:off x="4096452" y="1873948"/>
            <a:ext cx="530400" cy="697800"/>
          </a:xfrm>
          <a:prstGeom prst="bentConnector3">
            <a:avLst>
              <a:gd fmla="val 49999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" name="Google Shape;141;p18"/>
          <p:cNvCxnSpPr>
            <a:stCxn id="134" idx="3"/>
            <a:endCxn id="138" idx="1"/>
          </p:cNvCxnSpPr>
          <p:nvPr/>
        </p:nvCxnSpPr>
        <p:spPr>
          <a:xfrm>
            <a:off x="4096452" y="2571748"/>
            <a:ext cx="530400" cy="697800"/>
          </a:xfrm>
          <a:prstGeom prst="bentConnector3">
            <a:avLst>
              <a:gd fmla="val 49999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/>
          <p:nvPr/>
        </p:nvSpPr>
        <p:spPr>
          <a:xfrm>
            <a:off x="6206624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Cost Aggregator</a:t>
            </a:r>
            <a:endParaRPr sz="1274"/>
          </a:p>
        </p:txBody>
      </p:sp>
      <p:sp>
        <p:nvSpPr>
          <p:cNvPr id="143" name="Google Shape;143;p18"/>
          <p:cNvSpPr/>
          <p:nvPr/>
        </p:nvSpPr>
        <p:spPr>
          <a:xfrm>
            <a:off x="7786399" y="2300548"/>
            <a:ext cx="1125600" cy="542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6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3200" lIns="83200" spcFirstLastPara="1" rIns="83200" wrap="square" tIns="83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74"/>
              <a:t>Feasibility &amp; Output</a:t>
            </a:r>
            <a:endParaRPr sz="1274"/>
          </a:p>
        </p:txBody>
      </p:sp>
      <p:cxnSp>
        <p:nvCxnSpPr>
          <p:cNvPr id="144" name="Google Shape;144;p18"/>
          <p:cNvCxnSpPr>
            <a:stCxn id="137" idx="3"/>
            <a:endCxn id="142" idx="1"/>
          </p:cNvCxnSpPr>
          <p:nvPr/>
        </p:nvCxnSpPr>
        <p:spPr>
          <a:xfrm>
            <a:off x="5752438" y="1873950"/>
            <a:ext cx="454200" cy="697800"/>
          </a:xfrm>
          <a:prstGeom prst="bentConnector3">
            <a:avLst>
              <a:gd fmla="val 4999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" name="Google Shape;145;p18"/>
          <p:cNvCxnSpPr>
            <a:stCxn id="136" idx="3"/>
            <a:endCxn id="142" idx="1"/>
          </p:cNvCxnSpPr>
          <p:nvPr/>
        </p:nvCxnSpPr>
        <p:spPr>
          <a:xfrm>
            <a:off x="5752438" y="2571748"/>
            <a:ext cx="454200" cy="600"/>
          </a:xfrm>
          <a:prstGeom prst="bentConnector3">
            <a:avLst>
              <a:gd fmla="val 4999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" name="Google Shape;146;p18"/>
          <p:cNvCxnSpPr>
            <a:stCxn id="138" idx="3"/>
            <a:endCxn id="142" idx="1"/>
          </p:cNvCxnSpPr>
          <p:nvPr/>
        </p:nvCxnSpPr>
        <p:spPr>
          <a:xfrm flipH="1" rot="10800000">
            <a:off x="5752438" y="2571750"/>
            <a:ext cx="454200" cy="697800"/>
          </a:xfrm>
          <a:prstGeom prst="bentConnector3">
            <a:avLst>
              <a:gd fmla="val 49998" name="adj1"/>
            </a:avLst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18"/>
          <p:cNvCxnSpPr>
            <a:stCxn id="142" idx="3"/>
            <a:endCxn id="143" idx="1"/>
          </p:cNvCxnSpPr>
          <p:nvPr/>
        </p:nvCxnSpPr>
        <p:spPr>
          <a:xfrm>
            <a:off x="7332224" y="2571748"/>
            <a:ext cx="4542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18"/>
          <p:cNvCxnSpPr/>
          <p:nvPr/>
        </p:nvCxnSpPr>
        <p:spPr>
          <a:xfrm rot="10800000">
            <a:off x="1369475" y="3077700"/>
            <a:ext cx="0" cy="90480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18"/>
          <p:cNvCxnSpPr/>
          <p:nvPr/>
        </p:nvCxnSpPr>
        <p:spPr>
          <a:xfrm>
            <a:off x="1369475" y="3982500"/>
            <a:ext cx="5419800" cy="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18"/>
          <p:cNvCxnSpPr>
            <a:stCxn id="142" idx="2"/>
          </p:cNvCxnSpPr>
          <p:nvPr/>
        </p:nvCxnSpPr>
        <p:spPr>
          <a:xfrm>
            <a:off x="6769424" y="2842948"/>
            <a:ext cx="19800" cy="1139700"/>
          </a:xfrm>
          <a:prstGeom prst="straightConnector1">
            <a:avLst/>
          </a:prstGeom>
          <a:noFill/>
          <a:ln cap="flat" cmpd="sng" w="260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14858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